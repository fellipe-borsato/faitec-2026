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Arial" panose="020B0604020202020204" pitchFamily="34" charset="0"/>
      <p:regular r:id="rId15"/>
    </p:embeddedFont>
    <p:embeddedFont>
      <p:font typeface="Arial Bold" panose="020B0604020202020204" charset="0"/>
      <p:regular r:id="rId16"/>
    </p:embeddedFont>
    <p:embeddedFont>
      <p:font typeface="Arial Italics" panose="020B0604020202020204" charset="0"/>
      <p:regular r:id="rId17"/>
    </p:embeddedFont>
    <p:embeddedFont>
      <p:font typeface="Arimo" panose="020B0604020202020204" charset="0"/>
      <p:regular r:id="rId18"/>
    </p:embeddedFont>
    <p:embeddedFont>
      <p:font typeface="Arimo Bold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9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LOGICA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 acordo com </a:t>
            </a:r>
            <a:r>
              <a:rPr lang="pt-B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Quinsler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(2021, p.7) A lógica estuda os conceitos de prova e verdade, tendo como objetivo determinar se a argumentação utilizada para se chegar a certa conclusão é valida ou não.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 acordo com Barbosa (2019, p.16), “[...] [a lógica] não se refere a nenhum ser, a nenhuma coisa, a nenhum objeto em particular, nem mesmo a algum conteúdo, mas um </a:t>
            </a: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modo de dar forma ao pensamento</a:t>
            </a: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de modo que possamos chegar à verdade ou à falsidade sobre si ou sobre algo.”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PROPOSIÇÕES</a:t>
            </a:r>
            <a:br>
              <a:rPr lang="en-US" dirty="0"/>
            </a:b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Ainda de acordo com Barbosa, enquanto o juízo é um ato mental, a preposição é a representação da expressão deste ato. Ao aplicar a lógica matemática, a proposição se resume na definição de ser a sentença declarativa afirmativa que expressa um pensamento de sentido completo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10595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4607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apa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16816" y="7095439"/>
            <a:ext cx="5053413" cy="221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sz="3225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Pense Comigo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Carlos Eduardo Bomtempo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Fellipe Borsato Ribeiro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Moacir Vilela Sêga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93257" y="2432818"/>
            <a:ext cx="7985312" cy="51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Sumário</a:t>
            </a:r>
          </a:p>
          <a:p>
            <a:pPr algn="l">
              <a:lnSpc>
                <a:spcPts val="4320"/>
              </a:lnSpc>
            </a:pPr>
            <a:endParaRPr lang="en-US" sz="3600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01817" y="3416198"/>
            <a:ext cx="8434416" cy="4355641"/>
            <a:chOff x="0" y="0"/>
            <a:chExt cx="11245888" cy="58075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45850" cy="5807547"/>
            </a:xfrm>
            <a:custGeom>
              <a:avLst/>
              <a:gdLst/>
              <a:ahLst/>
              <a:cxnLst/>
              <a:rect l="l" t="t" r="r" b="b"/>
              <a:pathLst>
                <a:path w="11245850" h="5807547">
                  <a:moveTo>
                    <a:pt x="0" y="0"/>
                  </a:moveTo>
                  <a:lnTo>
                    <a:pt x="11245850" y="0"/>
                  </a:lnTo>
                  <a:lnTo>
                    <a:pt x="11245850" y="5807547"/>
                  </a:lnTo>
                  <a:lnTo>
                    <a:pt x="0" y="58075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1245888" cy="582657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600"/>
                </a:lnSpc>
              </a:pPr>
              <a:endParaRPr/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Introdução</a:t>
              </a:r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Objetivos</a:t>
              </a:r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Fundamentação Teórica</a:t>
              </a:r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Diagrama de Casos de Uso</a:t>
              </a:r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Demonstração Funcional</a:t>
              </a:r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 Alcançados</a:t>
              </a:r>
            </a:p>
            <a:p>
              <a:pPr marL="647700" lvl="1" indent="-323850" algn="l">
                <a:lnSpc>
                  <a:spcPts val="3600"/>
                </a:lnSpc>
                <a:buAutoNum type="arabicPeriod"/>
              </a:pPr>
              <a:r>
                <a:rPr lang="en-US" sz="3000" b="1">
                  <a:solidFill>
                    <a:srgbClr val="09090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Referências</a:t>
              </a:r>
            </a:p>
            <a:p>
              <a:pPr algn="l">
                <a:lnSpc>
                  <a:spcPts val="3600"/>
                </a:lnSpc>
              </a:pPr>
              <a:endParaRPr lang="en-US" sz="3000" b="1">
                <a:solidFill>
                  <a:srgbClr val="090909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93765" y="2246919"/>
            <a:ext cx="12042896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3765" y="3472520"/>
            <a:ext cx="12873695" cy="355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pensamento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lógico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mental</a:t>
            </a: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Evitar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"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Apelo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à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Tradição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Quebra-cabeça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Zebra"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"Enigma de Einstein"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93765" y="2246071"/>
            <a:ext cx="10429504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Objetivos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3765" y="3472520"/>
            <a:ext cx="12873695" cy="355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Codificar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"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Quebra-Cabeça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Zebra"</a:t>
            </a: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rejogabilidade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Exercitar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pensamento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maneira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dinâmica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399" lvl="1" indent="-149200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Apresentar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à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comunidade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Fundamentação Teórica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3765" y="3472520"/>
            <a:ext cx="12873695" cy="150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960"/>
              </a:lnSpc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 algn="l">
              <a:lnSpc>
                <a:spcPts val="3960"/>
              </a:lnSpc>
              <a:buFont typeface="Arial" panose="020B0604020202020204" pitchFamily="34" charset="0"/>
              <a:buChar char="•"/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 algn="l">
              <a:lnSpc>
                <a:spcPts val="3960"/>
              </a:lnSpc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Proposições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Diagrama de Casos de Uso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57938" y="3524621"/>
            <a:ext cx="10620518" cy="5814879"/>
            <a:chOff x="0" y="0"/>
            <a:chExt cx="14160691" cy="77531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60754" cy="7753223"/>
            </a:xfrm>
            <a:custGeom>
              <a:avLst/>
              <a:gdLst/>
              <a:ahLst/>
              <a:cxnLst/>
              <a:rect l="l" t="t" r="r" b="b"/>
              <a:pathLst>
                <a:path w="14160754" h="7753223">
                  <a:moveTo>
                    <a:pt x="0" y="0"/>
                  </a:moveTo>
                  <a:lnTo>
                    <a:pt x="14160754" y="0"/>
                  </a:lnTo>
                  <a:lnTo>
                    <a:pt x="14160754" y="7753223"/>
                  </a:lnTo>
                  <a:lnTo>
                    <a:pt x="0" y="775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54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Funcional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CD15A7B0-8770-4883-B91F-269D8F20A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137" y="2955867"/>
            <a:ext cx="9144000" cy="51435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99B6A31-F23C-4C50-AD9C-63FFBDA1B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137" y="2955867"/>
            <a:ext cx="9144000" cy="51435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C734B57-43CF-4AD9-A0F6-9096EF8350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4400" y="2934000"/>
            <a:ext cx="5827353" cy="295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Funcional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597842-9EF1-48CE-B64F-5BFB9D271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137" y="2955600"/>
            <a:ext cx="9166412" cy="515610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076A691-AF8B-4B0B-9DF7-C209B390E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2686" y="2933912"/>
            <a:ext cx="5254400" cy="29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1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Funcional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5564F59-778F-4F90-8C9E-2103C5662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049" y="3161790"/>
            <a:ext cx="10708151" cy="602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3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Demonstração Funcional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667560" y="3317472"/>
            <a:ext cx="9021794" cy="979275"/>
            <a:chOff x="0" y="0"/>
            <a:chExt cx="12029059" cy="1305700"/>
          </a:xfrm>
        </p:grpSpPr>
        <p:sp>
          <p:nvSpPr>
            <p:cNvPr id="8" name="Freeform 8"/>
            <p:cNvSpPr/>
            <p:nvPr/>
          </p:nvSpPr>
          <p:spPr>
            <a:xfrm flipH="1">
              <a:off x="0" y="0"/>
              <a:ext cx="12029059" cy="1305687"/>
            </a:xfrm>
            <a:custGeom>
              <a:avLst/>
              <a:gdLst/>
              <a:ahLst/>
              <a:cxnLst/>
              <a:rect l="l" t="t" r="r" b="b"/>
              <a:pathLst>
                <a:path w="12029059" h="1305687">
                  <a:moveTo>
                    <a:pt x="12029059" y="0"/>
                  </a:moveTo>
                  <a:lnTo>
                    <a:pt x="0" y="0"/>
                  </a:lnTo>
                  <a:lnTo>
                    <a:pt x="0" y="1305687"/>
                  </a:lnTo>
                  <a:lnTo>
                    <a:pt x="12029059" y="1305687"/>
                  </a:lnTo>
                  <a:lnTo>
                    <a:pt x="12029059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01697" y="3317472"/>
            <a:ext cx="6970338" cy="3883276"/>
            <a:chOff x="0" y="0"/>
            <a:chExt cx="9293784" cy="51777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93733" cy="5177663"/>
            </a:xfrm>
            <a:custGeom>
              <a:avLst/>
              <a:gdLst/>
              <a:ahLst/>
              <a:cxnLst/>
              <a:rect l="l" t="t" r="r" b="b"/>
              <a:pathLst>
                <a:path w="9293733" h="5177663">
                  <a:moveTo>
                    <a:pt x="0" y="0"/>
                  </a:moveTo>
                  <a:lnTo>
                    <a:pt x="9293733" y="0"/>
                  </a:lnTo>
                  <a:lnTo>
                    <a:pt x="9293733" y="5177663"/>
                  </a:lnTo>
                  <a:lnTo>
                    <a:pt x="0" y="5177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-137951" y="2239728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Resultados Alcançados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3765" y="3472520"/>
            <a:ext cx="12873695" cy="406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8609" lvl="1" indent="-149304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Reprodução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100% do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quebra-cabeça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sua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clássica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Reprodução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100% do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quebra-cabeça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versões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aleatórias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Geração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reutilização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um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quebra-cabeça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</a:pP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8609" lvl="1" indent="-149304" algn="l">
              <a:lnSpc>
                <a:spcPts val="396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Diferentes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conjuntos de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chegam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mesmo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lang="en-US" sz="3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 descr="FAI_Faitec_2026_Imagem_PowerPoint conteudo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93137" y="2246071"/>
            <a:ext cx="7985312" cy="502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3137" y="3101064"/>
            <a:ext cx="13469150" cy="290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BARBOSA, Marcos Antonio. 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Introdução à lógica matemática para acadêmicos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Curitiba, PR: Intersaberes, 2017. </a:t>
            </a:r>
            <a:r>
              <a:rPr lang="en-US" sz="27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E-book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 https://plataforma.bvirtual.com.br. Acesso em: 02 set 2026.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QUINSLER, Aline Purcote. </a:t>
            </a:r>
            <a:r>
              <a:rPr lang="en-US" sz="2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Raciocínio lógico, crítico e analítico contábil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1. ed. São Paulo: Contentus, 2021. </a:t>
            </a:r>
            <a:r>
              <a:rPr lang="en-US" sz="27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E-book</a:t>
            </a:r>
            <a:r>
              <a:rPr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Disponível em: https://plataforma.bvirtual.com.br. Acesso em: 01 set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401</Words>
  <Application>Microsoft Office PowerPoint</Application>
  <PresentationFormat>Personalizar</PresentationFormat>
  <Paragraphs>78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Calibri</vt:lpstr>
      <vt:lpstr>Arimo</vt:lpstr>
      <vt:lpstr>Times New Roman</vt:lpstr>
      <vt:lpstr>Arimo Bold</vt:lpstr>
      <vt:lpstr>Arial Bold</vt:lpstr>
      <vt:lpstr>Arial</vt:lpstr>
      <vt:lpstr>Arial Italics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FAI_SI_Faitec_2026_PenseComigo.pptx</dc:title>
  <dc:creator>MOACIR</dc:creator>
  <cp:lastModifiedBy>Moacir Vilela Sega</cp:lastModifiedBy>
  <cp:revision>9</cp:revision>
  <dcterms:created xsi:type="dcterms:W3CDTF">2006-08-16T00:00:00Z</dcterms:created>
  <dcterms:modified xsi:type="dcterms:W3CDTF">2026-09-18T20:41:41Z</dcterms:modified>
  <dc:identifier>DAHU71UuuVc</dc:identifier>
</cp:coreProperties>
</file>